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5328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0000" y="270000"/>
            <a:ext cx="4788000" cy="36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u="none">
                <a:solidFill>
                  <a:srgbClr val="FFFFFF"/>
                </a:solidFill>
              </a:rPr>
              <a:t>【 大阪模型 】  日  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6588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日付：</a:t>
            </a:r>
            <a:r>
              <a:rPr sz="950" b="0" u="sng">
                <a:solidFill>
                  <a:srgbClr val="191919"/>
                </a:solidFill>
              </a:rPr>
              <a:t>          </a:t>
            </a:r>
            <a:r>
              <a:rPr sz="950" b="0" u="none">
                <a:solidFill>
                  <a:srgbClr val="191919"/>
                </a:solidFill>
              </a:rPr>
              <a:t> 年 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月 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000" y="9036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開始時刻：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         終了時刻：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11484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担当者：</a:t>
            </a:r>
            <a:r>
              <a:rPr sz="950" b="0" u="sng">
                <a:solidFill>
                  <a:srgbClr val="191919"/>
                </a:solidFill>
              </a:rPr>
              <a:t>                                               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000" y="1411200"/>
            <a:ext cx="47880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0000" y="1447200"/>
          <a:ext cx="4788000" cy="22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1368000"/>
              </a:tblGrid>
              <a:tr h="201600"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項　　目</a:t>
                      </a:r>
                    </a:p>
                  </a:txBody>
                  <a:tcPr marT="0" marB="0" marL="28800" marR="18000">
                    <a:solidFill>
                      <a:srgbClr val="3B82F6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数　量</a:t>
                      </a:r>
                    </a:p>
                  </a:txBody>
                  <a:tcPr marT="0" marB="0" marL="28800" marR="18000">
                    <a:solidFill>
                      <a:srgbClr val="3B82F6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製作品目</a:t>
                      </a:r>
                    </a:p>
                  </a:txBody>
                  <a:tcPr marT="0" marB="0" marL="28800" marR="18000">
                    <a:solidFill>
                      <a:srgbClr val="D7E6FD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D7E6FD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ノーマル模型（急ぎ）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ノーマル模型【メタル】（総製作）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ノーマル模型【CAD】（総製作）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貼り付け模型（急ぎ）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貼り付け模型【メタル】（総製作）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貼り付け模型【CAD】（総製作）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インレー・コア模型（急ぎ）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インレー・コア模型（総製作）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総数（急ぎ）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総数（総製作）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60000"/>
            <a:ext cx="72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191919"/>
                </a:solidFill>
              </a:rPr>
              <a:t>備　考：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000" y="6822000"/>
            <a:ext cx="4788000" cy="413999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0000" y="270000"/>
            <a:ext cx="4788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u="none">
                <a:solidFill>
                  <a:srgbClr val="FFFFFF"/>
                </a:solidFill>
              </a:rPr>
              <a:t>【 メタル① 】  日  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6588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日付：</a:t>
            </a:r>
            <a:r>
              <a:rPr sz="950" b="0" u="sng">
                <a:solidFill>
                  <a:srgbClr val="191919"/>
                </a:solidFill>
              </a:rPr>
              <a:t>          </a:t>
            </a:r>
            <a:r>
              <a:rPr sz="950" b="0" u="none">
                <a:solidFill>
                  <a:srgbClr val="191919"/>
                </a:solidFill>
              </a:rPr>
              <a:t> 年 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月 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000" y="9036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開始時刻：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         終了時刻：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11484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担当者：</a:t>
            </a:r>
            <a:r>
              <a:rPr sz="950" b="0" u="sng">
                <a:solidFill>
                  <a:srgbClr val="191919"/>
                </a:solidFill>
              </a:rPr>
              <a:t>                                               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000" y="1411200"/>
            <a:ext cx="47880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0000" y="1447200"/>
          <a:ext cx="4788000" cy="282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1368000"/>
              </a:tblGrid>
              <a:tr h="201600"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項　　目</a:t>
                      </a:r>
                    </a:p>
                  </a:txBody>
                  <a:tcPr marT="0" marB="0" marL="28800" marR="18000">
                    <a:solidFill>
                      <a:srgbClr val="10B981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数　量</a:t>
                      </a:r>
                    </a:p>
                  </a:txBody>
                  <a:tcPr marT="0" marB="0" marL="28800" marR="18000">
                    <a:solidFill>
                      <a:srgbClr val="10B981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WAX</a:t>
                      </a:r>
                    </a:p>
                  </a:txBody>
                  <a:tcPr marT="0" marB="0" marL="28800" marR="18000">
                    <a:solidFill>
                      <a:srgbClr val="CFF1E5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CFF1E5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HR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FMC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インレー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コア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その他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埋没</a:t>
                      </a:r>
                    </a:p>
                  </a:txBody>
                  <a:tcPr marT="0" marB="0" marL="28800" marR="18000">
                    <a:solidFill>
                      <a:srgbClr val="CFF1E5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CFF1E5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スプルー植立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埋没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キャスト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割り出し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カット計量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パターン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埋没 その他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60000"/>
            <a:ext cx="72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191919"/>
                </a:solidFill>
              </a:rPr>
              <a:t>備　考：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000" y="6822000"/>
            <a:ext cx="4788000" cy="413999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0000" y="270000"/>
            <a:ext cx="4788000" cy="36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u="none">
                <a:solidFill>
                  <a:srgbClr val="FFFFFF"/>
                </a:solidFill>
              </a:rPr>
              <a:t>【 メタル② 】  日  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6588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日付：</a:t>
            </a:r>
            <a:r>
              <a:rPr sz="950" b="0" u="sng">
                <a:solidFill>
                  <a:srgbClr val="191919"/>
                </a:solidFill>
              </a:rPr>
              <a:t>          </a:t>
            </a:r>
            <a:r>
              <a:rPr sz="950" b="0" u="none">
                <a:solidFill>
                  <a:srgbClr val="191919"/>
                </a:solidFill>
              </a:rPr>
              <a:t> 年 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月 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000" y="9036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開始時刻：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         終了時刻：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11484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担当者：</a:t>
            </a:r>
            <a:r>
              <a:rPr sz="950" b="0" u="sng">
                <a:solidFill>
                  <a:srgbClr val="191919"/>
                </a:solidFill>
              </a:rPr>
              <a:t>                                               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000" y="1411200"/>
            <a:ext cx="47880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0000" y="1447200"/>
          <a:ext cx="4788000" cy="33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1368000"/>
              </a:tblGrid>
              <a:tr h="201600"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項　　目</a:t>
                      </a:r>
                    </a:p>
                  </a:txBody>
                  <a:tcPr marT="0" marB="0" marL="28800" marR="18000">
                    <a:solidFill>
                      <a:srgbClr val="6366F1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数　量</a:t>
                      </a:r>
                    </a:p>
                  </a:txBody>
                  <a:tcPr marT="0" marB="0" marL="28800" marR="18000">
                    <a:solidFill>
                      <a:srgbClr val="6366F1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品目</a:t>
                      </a:r>
                    </a:p>
                  </a:txBody>
                  <a:tcPr marT="0" marB="0" marL="28800" marR="18000">
                    <a:solidFill>
                      <a:srgbClr val="DFE0FC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DFE0FC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クラウン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インレー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コア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自費クラウン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自費インレー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自費コア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調整・適合</a:t>
                      </a:r>
                    </a:p>
                  </a:txBody>
                  <a:tcPr marT="0" marB="0" marL="28800" marR="18000">
                    <a:solidFill>
                      <a:srgbClr val="DFE0FC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DFE0FC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調整・適合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調整・コンタクト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調整・バイト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ネジ付け・FMC/In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研磨・FMC/In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研磨・ブリッジ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研磨・コア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ネジ外し・FMC/In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レーズ・ブリッジ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60000"/>
            <a:ext cx="72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191919"/>
                </a:solidFill>
              </a:rPr>
              <a:t>備　考：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000" y="6822000"/>
            <a:ext cx="4788000" cy="413999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0000" y="270000"/>
            <a:ext cx="4788000" cy="360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u="none">
                <a:solidFill>
                  <a:srgbClr val="FFFFFF"/>
                </a:solidFill>
              </a:rPr>
              <a:t>【 メタル③ 】  日  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6588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日付：</a:t>
            </a:r>
            <a:r>
              <a:rPr sz="950" b="0" u="sng">
                <a:solidFill>
                  <a:srgbClr val="191919"/>
                </a:solidFill>
              </a:rPr>
              <a:t>          </a:t>
            </a:r>
            <a:r>
              <a:rPr sz="950" b="0" u="none">
                <a:solidFill>
                  <a:srgbClr val="191919"/>
                </a:solidFill>
              </a:rPr>
              <a:t> 年 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月 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000" y="9036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開始時刻：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         終了時刻：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11484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担当者：</a:t>
            </a:r>
            <a:r>
              <a:rPr sz="950" b="0" u="sng">
                <a:solidFill>
                  <a:srgbClr val="191919"/>
                </a:solidFill>
              </a:rPr>
              <a:t>                                               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000" y="1411200"/>
            <a:ext cx="47880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0000" y="1447200"/>
          <a:ext cx="4788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1368000"/>
              </a:tblGrid>
              <a:tr h="201600"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項　　目</a:t>
                      </a:r>
                    </a:p>
                  </a:txBody>
                  <a:tcPr marT="0" marB="0" marL="28800" marR="18000">
                    <a:solidFill>
                      <a:srgbClr val="EC489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数　量</a:t>
                      </a:r>
                    </a:p>
                  </a:txBody>
                  <a:tcPr marT="0" marB="0" marL="28800" marR="18000">
                    <a:solidFill>
                      <a:srgbClr val="EC489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工程</a:t>
                      </a:r>
                    </a:p>
                  </a:txBody>
                  <a:tcPr marT="0" marB="0" marL="28800" marR="18000">
                    <a:solidFill>
                      <a:srgbClr val="FBDAEA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BDAEA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メタル(適合～オペーク)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築盛(築盛)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形態(コンタクト～形態)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研磨(シリコン～)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ホワイトWAX(築盛～形態)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トリミング(チェック～)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製作品目</a:t>
                      </a:r>
                    </a:p>
                  </a:txBody>
                  <a:tcPr marT="0" marB="0" marL="28800" marR="18000">
                    <a:solidFill>
                      <a:srgbClr val="FBDAEA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BDAEA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トリミング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ハードレジン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HJK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HB（インレー）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HB(アンレー)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HB(ジャケット)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HB(金属裏装)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ファイバーコア(自費)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ファイバーコア(保険)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CRインレー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CRアンレー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クラウン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インレー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ホワイトWAX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60000"/>
            <a:ext cx="72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191919"/>
                </a:solidFill>
              </a:rPr>
              <a:t>備　考：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000" y="6822000"/>
            <a:ext cx="4788000" cy="413999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0000" y="270000"/>
            <a:ext cx="4788000" cy="36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u="none">
                <a:solidFill>
                  <a:srgbClr val="FFFFFF"/>
                </a:solidFill>
              </a:rPr>
              <a:t>【 自費 】  日  報  （1/2）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6588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日付：</a:t>
            </a:r>
            <a:r>
              <a:rPr sz="950" b="0" u="sng">
                <a:solidFill>
                  <a:srgbClr val="191919"/>
                </a:solidFill>
              </a:rPr>
              <a:t>          </a:t>
            </a:r>
            <a:r>
              <a:rPr sz="950" b="0" u="none">
                <a:solidFill>
                  <a:srgbClr val="191919"/>
                </a:solidFill>
              </a:rPr>
              <a:t> 年 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月 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000" y="9036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開始時刻：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         終了時刻：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11484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担当者：</a:t>
            </a:r>
            <a:r>
              <a:rPr sz="950" b="0" u="sng">
                <a:solidFill>
                  <a:srgbClr val="191919"/>
                </a:solidFill>
              </a:rPr>
              <a:t>                                               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000" y="1411200"/>
            <a:ext cx="47880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0000" y="1447200"/>
          <a:ext cx="4788000" cy="506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1368000"/>
              </a:tblGrid>
              <a:tr h="201600"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項　　目</a:t>
                      </a:r>
                    </a:p>
                  </a:txBody>
                  <a:tcPr marT="0" marB="0" marL="28800" marR="18000">
                    <a:solidFill>
                      <a:srgbClr val="8B5CF6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数　量</a:t>
                      </a:r>
                    </a:p>
                  </a:txBody>
                  <a:tcPr marT="0" marB="0" marL="28800" marR="18000">
                    <a:solidFill>
                      <a:srgbClr val="8B5CF6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e.max</a:t>
                      </a:r>
                    </a:p>
                  </a:txBody>
                  <a:tcPr marT="0" marB="0" marL="28800" marR="18000">
                    <a:solidFill>
                      <a:srgbClr val="E7DEFD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E7DEFD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マウント(e.max)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トリミング(e.max)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パターン Cr(e.max)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パターン インレー(e.max)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パターン ラミネート(e.max)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植立：埋没・プレス(e.max)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適合・調整(e.max)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ステイン・完成 Cr(e.max)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ステイン・完成 インレー(e.max)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ステイン・完成 ラミネート(e.max)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MB</a:t>
                      </a:r>
                    </a:p>
                  </a:txBody>
                  <a:tcPr marT="0" marB="0" marL="28800" marR="18000">
                    <a:solidFill>
                      <a:srgbClr val="E7DEFD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E7DEFD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マウント(MB)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トリミング(MB)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パターン(フルカントゥア)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パターン(キャップ)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植立・埋没・キャスト(MB)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メタル調整(MB)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前ロウ(ヶ所)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築盛(MB)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形態修正・完成(MB)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Zirconia</a:t>
                      </a:r>
                    </a:p>
                  </a:txBody>
                  <a:tcPr marT="0" marB="0" marL="28800" marR="18000">
                    <a:solidFill>
                      <a:srgbClr val="E7DEFD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E7DEFD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マウント(Zir)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トリミング(Zir)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設計・Cr(Zir)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設計・In(Zir)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0000" y="270000"/>
            <a:ext cx="4788000" cy="360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u="none">
                <a:solidFill>
                  <a:srgbClr val="FFFFFF"/>
                </a:solidFill>
              </a:rPr>
              <a:t>【 自費 】  日  報  （2/2）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666000"/>
            <a:ext cx="4788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u="none">
                <a:solidFill>
                  <a:srgbClr val="787878"/>
                </a:solidFill>
              </a:rPr>
              <a:t>（前ページからの続き）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0000" y="792000"/>
          <a:ext cx="4788000" cy="24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1368000"/>
              </a:tblGrid>
              <a:tr h="201600"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項　　目</a:t>
                      </a:r>
                    </a:p>
                  </a:txBody>
                  <a:tcPr marT="0" marB="0" marL="28800" marR="18000">
                    <a:solidFill>
                      <a:srgbClr val="8B5CF6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数　量</a:t>
                      </a:r>
                    </a:p>
                  </a:txBody>
                  <a:tcPr marT="0" marB="0" marL="28800" marR="18000">
                    <a:solidFill>
                      <a:srgbClr val="8B5CF6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適合・調整(Zir)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フルジルコニア ステイン・完成(Cr)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フルジルコニア ステイン・完成(インレー)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レイヤリング(築盛)(Zir)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レイヤリング(形成修正・完成)(Zir)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インプラント</a:t>
                      </a:r>
                    </a:p>
                  </a:txBody>
                  <a:tcPr marT="0" marB="0" marL="28800" marR="18000">
                    <a:solidFill>
                      <a:srgbClr val="E7DEFD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E7DEFD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模型作り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マウント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アバットメント設計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アバットメント調整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セメンテーション（スクリュー）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トランスファージグ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0000" y="6660000"/>
            <a:ext cx="72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191919"/>
                </a:solidFill>
              </a:rPr>
              <a:t>備　考：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000" y="6822000"/>
            <a:ext cx="4788000" cy="413999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0000" y="270000"/>
            <a:ext cx="4788000" cy="360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u="none">
                <a:solidFill>
                  <a:srgbClr val="FFFFFF"/>
                </a:solidFill>
              </a:rPr>
              <a:t>【 CAD/CAM① 】  日  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6588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日付：</a:t>
            </a:r>
            <a:r>
              <a:rPr sz="950" b="0" u="sng">
                <a:solidFill>
                  <a:srgbClr val="191919"/>
                </a:solidFill>
              </a:rPr>
              <a:t>          </a:t>
            </a:r>
            <a:r>
              <a:rPr sz="950" b="0" u="none">
                <a:solidFill>
                  <a:srgbClr val="191919"/>
                </a:solidFill>
              </a:rPr>
              <a:t> 年 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月 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000" y="9036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開始時刻：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         終了時刻：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11484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担当者：</a:t>
            </a:r>
            <a:r>
              <a:rPr sz="950" b="0" u="sng">
                <a:solidFill>
                  <a:srgbClr val="191919"/>
                </a:solidFill>
              </a:rPr>
              <a:t>                                               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000" y="1411200"/>
            <a:ext cx="47880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0000" y="1447200"/>
          <a:ext cx="4788000" cy="11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1368000"/>
              </a:tblGrid>
              <a:tr h="201600"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項　　目</a:t>
                      </a:r>
                    </a:p>
                  </a:txBody>
                  <a:tcPr marT="0" marB="0" marL="28800" marR="18000">
                    <a:solidFill>
                      <a:srgbClr val="22D3EE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数　量</a:t>
                      </a:r>
                    </a:p>
                  </a:txBody>
                  <a:tcPr marT="0" marB="0" marL="28800" marR="18000">
                    <a:solidFill>
                      <a:srgbClr val="22D3EE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実績入力</a:t>
                      </a:r>
                    </a:p>
                  </a:txBody>
                  <a:tcPr marT="0" marB="0" marL="28800" marR="18000">
                    <a:solidFill>
                      <a:srgbClr val="D2F6FB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D2F6FB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トリミング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スキャン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CAM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3Dプリンター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60000"/>
            <a:ext cx="72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191919"/>
                </a:solidFill>
              </a:rPr>
              <a:t>備　考：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000" y="6822000"/>
            <a:ext cx="4788000" cy="413999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0000" y="270000"/>
            <a:ext cx="4788000" cy="360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u="none">
                <a:solidFill>
                  <a:srgbClr val="FFFFFF"/>
                </a:solidFill>
              </a:rPr>
              <a:t>【 CAD/CAM②（設計） 】  日  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6588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日付：</a:t>
            </a:r>
            <a:r>
              <a:rPr sz="950" b="0" u="sng">
                <a:solidFill>
                  <a:srgbClr val="191919"/>
                </a:solidFill>
              </a:rPr>
              <a:t>          </a:t>
            </a:r>
            <a:r>
              <a:rPr sz="950" b="0" u="none">
                <a:solidFill>
                  <a:srgbClr val="191919"/>
                </a:solidFill>
              </a:rPr>
              <a:t> 年 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月 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000" y="9036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開始時刻：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         終了時刻：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11484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担当者：</a:t>
            </a:r>
            <a:r>
              <a:rPr sz="950" b="0" u="sng">
                <a:solidFill>
                  <a:srgbClr val="191919"/>
                </a:solidFill>
              </a:rPr>
              <a:t>                                               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000" y="1411200"/>
            <a:ext cx="47880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0000" y="1447200"/>
          <a:ext cx="4788000" cy="24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1368000"/>
              </a:tblGrid>
              <a:tr h="201600"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項　　目</a:t>
                      </a:r>
                    </a:p>
                  </a:txBody>
                  <a:tcPr marT="0" marB="0" marL="28800" marR="18000">
                    <a:solidFill>
                      <a:srgbClr val="06B6D4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数　量</a:t>
                      </a:r>
                    </a:p>
                  </a:txBody>
                  <a:tcPr marT="0" marB="0" marL="28800" marR="18000">
                    <a:solidFill>
                      <a:srgbClr val="06B6D4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模型あり</a:t>
                      </a:r>
                    </a:p>
                  </a:txBody>
                  <a:tcPr marT="0" marB="0" marL="28800" marR="18000">
                    <a:solidFill>
                      <a:srgbClr val="CDF0F6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CDF0F6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模型あり 前歯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模型あり クラウン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模型あり インレー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模型なし</a:t>
                      </a:r>
                    </a:p>
                  </a:txBody>
                  <a:tcPr marT="0" marB="0" marL="28800" marR="18000">
                    <a:solidFill>
                      <a:srgbClr val="CDF0F6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CDF0F6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模型なし 前歯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模型なし クラウン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模型なし インレー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AI設計</a:t>
                      </a:r>
                    </a:p>
                  </a:txBody>
                  <a:tcPr marT="0" marB="0" marL="28800" marR="18000">
                    <a:solidFill>
                      <a:srgbClr val="CDF0F6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CDF0F6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AI設計 前歯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AI設計 クラウン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AI設計 インレー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60000"/>
            <a:ext cx="72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191919"/>
                </a:solidFill>
              </a:rPr>
              <a:t>備　考：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000" y="6822000"/>
            <a:ext cx="4788000" cy="413999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0000" y="270000"/>
            <a:ext cx="4788000" cy="360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u="none">
                <a:solidFill>
                  <a:srgbClr val="FFFFFF"/>
                </a:solidFill>
              </a:rPr>
              <a:t>【 CAD/CAM③（完成） 】  日  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6588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日付：</a:t>
            </a:r>
            <a:r>
              <a:rPr sz="950" b="0" u="sng">
                <a:solidFill>
                  <a:srgbClr val="191919"/>
                </a:solidFill>
              </a:rPr>
              <a:t>          </a:t>
            </a:r>
            <a:r>
              <a:rPr sz="950" b="0" u="none">
                <a:solidFill>
                  <a:srgbClr val="191919"/>
                </a:solidFill>
              </a:rPr>
              <a:t> 年 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月 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000" y="9036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開始時刻：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         終了時刻：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11484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担当者：</a:t>
            </a:r>
            <a:r>
              <a:rPr sz="950" b="0" u="sng">
                <a:solidFill>
                  <a:srgbClr val="191919"/>
                </a:solidFill>
              </a:rPr>
              <a:t>                                               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000" y="1411200"/>
            <a:ext cx="47880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0000" y="1447200"/>
          <a:ext cx="4788000" cy="76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1368000"/>
              </a:tblGrid>
              <a:tr h="201600"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項　　目</a:t>
                      </a:r>
                    </a:p>
                  </a:txBody>
                  <a:tcPr marT="0" marB="0" marL="28800" marR="18000">
                    <a:solidFill>
                      <a:srgbClr val="0891B2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数　量</a:t>
                      </a:r>
                    </a:p>
                  </a:txBody>
                  <a:tcPr marT="0" marB="0" marL="28800" marR="18000">
                    <a:solidFill>
                      <a:srgbClr val="0891B2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実績入力</a:t>
                      </a:r>
                    </a:p>
                  </a:txBody>
                  <a:tcPr marT="0" marB="0" marL="28800" marR="18000">
                    <a:solidFill>
                      <a:srgbClr val="CDE9E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CDE9E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模型あり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模型なし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60000"/>
            <a:ext cx="72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191919"/>
                </a:solidFill>
              </a:rPr>
              <a:t>備　考：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000" y="6822000"/>
            <a:ext cx="4788000" cy="413999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0000" y="270000"/>
            <a:ext cx="4788000" cy="36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u="none">
                <a:solidFill>
                  <a:srgbClr val="FFFFFF"/>
                </a:solidFill>
              </a:rPr>
              <a:t>【 デンチャー 】  日  報  （1/3）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6588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日付：</a:t>
            </a:r>
            <a:r>
              <a:rPr sz="950" b="0" u="sng">
                <a:solidFill>
                  <a:srgbClr val="191919"/>
                </a:solidFill>
              </a:rPr>
              <a:t>          </a:t>
            </a:r>
            <a:r>
              <a:rPr sz="950" b="0" u="none">
                <a:solidFill>
                  <a:srgbClr val="191919"/>
                </a:solidFill>
              </a:rPr>
              <a:t> 年 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月 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000" y="9036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開始時刻：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         終了時刻：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  <a:r>
              <a:rPr sz="950" b="0" u="none">
                <a:solidFill>
                  <a:srgbClr val="191919"/>
                </a:solidFill>
              </a:rPr>
              <a:t> ：</a:t>
            </a:r>
            <a:r>
              <a:rPr sz="950" b="0" u="sng">
                <a:solidFill>
                  <a:srgbClr val="191919"/>
                </a:solidFill>
              </a:rPr>
              <a:t> 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000" y="1148400"/>
            <a:ext cx="4788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91919"/>
                </a:solidFill>
              </a:rPr>
              <a:t>担当者：</a:t>
            </a:r>
            <a:r>
              <a:rPr sz="950" b="0" u="sng">
                <a:solidFill>
                  <a:srgbClr val="191919"/>
                </a:solidFill>
              </a:rPr>
              <a:t>                                                             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000" y="1411200"/>
            <a:ext cx="4788000" cy="1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0000" y="1447200"/>
          <a:ext cx="4788000" cy="506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1368000"/>
              </a:tblGrid>
              <a:tr h="201600"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項　　目</a:t>
                      </a:r>
                    </a:p>
                  </a:txBody>
                  <a:tcPr marT="0" marB="0" marL="28800" marR="18000">
                    <a:solidFill>
                      <a:srgbClr val="EF4444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数　量</a:t>
                      </a:r>
                    </a:p>
                  </a:txBody>
                  <a:tcPr marT="0" marB="0" marL="28800" marR="18000">
                    <a:solidFill>
                      <a:srgbClr val="EF4444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基本</a:t>
                      </a:r>
                    </a:p>
                  </a:txBody>
                  <a:tcPr marT="0" marB="0" marL="28800" marR="18000">
                    <a:solidFill>
                      <a:srgbClr val="FBD9D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BD9D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台付(個)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トリミング(個)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バイト(ケース)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マウント(ケース)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印象(個)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3D/CAD</a:t>
                      </a:r>
                    </a:p>
                  </a:txBody>
                  <a:tcPr marT="0" marB="0" marL="28800" marR="18000">
                    <a:solidFill>
                      <a:srgbClr val="FBD9D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BD9D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3Dデンチャー 設計(本)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3Dデンチャー 完成(本)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CAD/CAM(設計)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CAD/CAM(完成)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製作</a:t>
                      </a:r>
                    </a:p>
                  </a:txBody>
                  <a:tcPr marT="0" marB="0" marL="28800" marR="18000">
                    <a:solidFill>
                      <a:srgbClr val="FBD9D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BD9D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ベース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ロー堤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トレー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クラスプ・バー設計(本)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クラスプ・バー パターン(本)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クラスプ・バー 埋没(本)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クラスプ ワイヤー屈曲(本)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サンドブラスト(本)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クラスプ・バー 研磨(本)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クラスプ適合(本)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ソルダーロー着(ヶ所)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コバルトロー着(ヶ所)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補強床※(枚)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排列</a:t>
                      </a:r>
                    </a:p>
                  </a:txBody>
                  <a:tcPr marT="0" marB="0" marL="28800" marR="18000">
                    <a:solidFill>
                      <a:srgbClr val="FBD9D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BD9D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0000" y="270000"/>
            <a:ext cx="4788000" cy="36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u="none">
                <a:solidFill>
                  <a:srgbClr val="FFFFFF"/>
                </a:solidFill>
              </a:rPr>
              <a:t>【 デンチャー 】  日  報  （2/3）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666000"/>
            <a:ext cx="4788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u="none">
                <a:solidFill>
                  <a:srgbClr val="787878"/>
                </a:solidFill>
              </a:rPr>
              <a:t>（前ページからの続き）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0000" y="792000"/>
          <a:ext cx="4788000" cy="58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1368000"/>
              </a:tblGrid>
              <a:tr h="201600"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項　　目</a:t>
                      </a:r>
                    </a:p>
                  </a:txBody>
                  <a:tcPr marT="0" marB="0" marL="28800" marR="18000">
                    <a:solidFill>
                      <a:srgbClr val="EF4444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数　量</a:t>
                      </a:r>
                    </a:p>
                  </a:txBody>
                  <a:tcPr marT="0" marB="0" marL="28800" marR="18000">
                    <a:solidFill>
                      <a:srgbClr val="EF4444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試適排列(1-4歯)(床)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試適排列(5-8歯)(床)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試適排列(9-12歯)(床)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試適排列(13-総義歯)(床)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重合排列-咬合調整(1-4歯)(床)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重合排列-咬合調整(5-8歯)(床)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重合排列-咬合調整(9-12歯)(床)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重合排列-咬合調整(13-総義歯)(床)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組み立て(床)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試適形成(床)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重排形成(床)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補強線屈曲(床)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補強線ロー着(床)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設計</a:t>
                      </a:r>
                    </a:p>
                  </a:txBody>
                  <a:tcPr marT="0" marB="0" marL="28800" marR="18000">
                    <a:solidFill>
                      <a:srgbClr val="FBD9D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BD9D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デンチャー設計(ブロックアウト含む)(床)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副模型製作(個)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維持屈曲</a:t>
                      </a:r>
                    </a:p>
                  </a:txBody>
                  <a:tcPr marT="0" marB="0" marL="28800" marR="18000">
                    <a:solidFill>
                      <a:srgbClr val="FBD9D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BD9D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デンチャー埋没(床)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脱漏(自費は１人・保険２人当たりの数)(床)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墳入(リング)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割り出し　前工程(リング)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対合はずし・洗浄(床)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流し込み　前処理(シリコン型取り)(床)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流し込み(人工歯置き換え含む)(ケース)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プレス</a:t>
                      </a:r>
                    </a:p>
                  </a:txBody>
                  <a:tcPr marT="0" marB="0" marL="28800" marR="18000">
                    <a:solidFill>
                      <a:srgbClr val="FBD9D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BD9D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カスタムトレー(ホワイトニング用)(床)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ナイトガードソフト(プレス)(床)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咬合調整(ナイトガードソフトラミネート処理・有)(床)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咬合調整(ナイトガードソフトラミネート処理・無)(床)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ナイトガードハード(プレス)(床)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0000" y="270000"/>
            <a:ext cx="4788000" cy="360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u="none">
                <a:solidFill>
                  <a:srgbClr val="FFFFFF"/>
                </a:solidFill>
              </a:rPr>
              <a:t>【 デンチャー 】  日  報  （3/3）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0000" y="666000"/>
            <a:ext cx="4788000" cy="125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 u="none">
                <a:solidFill>
                  <a:srgbClr val="787878"/>
                </a:solidFill>
              </a:rPr>
              <a:t>（前ページからの続き）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0000" y="792000"/>
          <a:ext cx="4788000" cy="30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1368000"/>
              </a:tblGrid>
              <a:tr h="201600"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項　　目</a:t>
                      </a:r>
                    </a:p>
                  </a:txBody>
                  <a:tcPr marT="0" marB="0" marL="28800" marR="18000">
                    <a:solidFill>
                      <a:srgbClr val="EF4444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数　量</a:t>
                      </a:r>
                    </a:p>
                  </a:txBody>
                  <a:tcPr marT="0" marB="0" marL="28800" marR="18000">
                    <a:solidFill>
                      <a:srgbClr val="EF4444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咬合調整(ナイトガードハード)(床)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スポーツマウスピース(ラミネート処理・有)(床)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スポーツマウスピース(ラミネート処理・無)(床)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修理研磨</a:t>
                      </a:r>
                    </a:p>
                  </a:txBody>
                  <a:tcPr marT="0" marB="0" marL="28800" marR="18000">
                    <a:solidFill>
                      <a:srgbClr val="FBD9D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BD9D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ソフトリライニング(墳入～仕上まで)(床)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義歯修理(破折・増歯・補強線追加)(床)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適合(床)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床研磨(床)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1">
                          <a:solidFill>
                            <a:srgbClr val="191919"/>
                          </a:solidFill>
                        </a:rPr>
                        <a:t>▶  その他</a:t>
                      </a:r>
                    </a:p>
                  </a:txBody>
                  <a:tcPr marT="0" marB="0" marL="28800" marR="18000">
                    <a:solidFill>
                      <a:srgbClr val="FBD9D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BD9D9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ネーム入れ(デンチャー・プレス)(床)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メッシュプレート(動揺歯固定)(枚)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バリオ(床)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チェック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矯正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  <a:tr h="187200"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>  その他</a:t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  <a:tc>
                  <a:txBody>
                    <a:bodyPr anchor="ctr"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50" b="0">
                          <a:solidFill>
                            <a:srgbClr val="191919"/>
                          </a:solidFill>
                        </a:rPr>
                        <a:t/>
                      </a:r>
                    </a:p>
                  </a:txBody>
                  <a:tcPr marT="0" marB="0" marL="28800" marR="18000">
                    <a:solidFill>
                      <a:srgbClr val="FFFFFF"/>
                    </a:solidFill>
                    <a:lnL w="9525" cap="flat" cmpd="sng">
                      <a:solidFill>
                        <a:srgbClr val="C8C8C8"/>
                      </a:solidFill>
                    </a:lnL>
                    <a:lnR w="9525" cap="flat" cmpd="sng">
                      <a:solidFill>
                        <a:srgbClr val="C8C8C8"/>
                      </a:solidFill>
                    </a:lnR>
                    <a:lnT w="9525" cap="flat" cmpd="sng">
                      <a:solidFill>
                        <a:srgbClr val="C8C8C8"/>
                      </a:solidFill>
                    </a:lnT>
                    <a:lnB w="9525" cap="flat" cmpd="sng">
                      <a:solidFill>
                        <a:srgbClr val="C8C8C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0000" y="6660000"/>
            <a:ext cx="720000" cy="16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191919"/>
                </a:solidFill>
              </a:rPr>
              <a:t>備　考：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270000" y="6822000"/>
            <a:ext cx="4788000" cy="413999"/>
          </a:xfrm>
          <a:prstGeom prst="rect">
            <a:avLst/>
          </a:prstGeom>
          <a:noFill/>
          <a:ln w="9525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